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with: this is Linux survival skills for this class, not a full Linux course. The goal is comfort with the workflow students will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distinction clear: Linux is the operating system, Bash is the command interpreter, and tools such as Vim, g++, make, and CMake run inside that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Linux runs a large share of servers and cloud machines. We use it because the class environment, compilers, and automation tools are easy to use from a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AWS console, point out instance state, public IPv4 address, key pair name, and the selected Linux image. Do not dwell on AWS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.pem file location without displaying its contents. Emphasize: never email, commit, or share a private key. Explain that SSH opens a secure terminal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to the username, remote hostname, and current directory. Have students say out loud which computer receives the next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first navigation demo. Explain slash as the filesystem root, home directory as the working area, and tilde as a shortcut to the current user’s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each command slowly and let the terminal output confirm the meaning. Mention absolute paths begin with /; relative paths start from the current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harmless demo directory. Pause before rm. State that rm has no recycle bin in this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deliberately light. whoami answers which user. chmod changes file permissions. sudo runs one command with administrator privileges; do not normalize using it casually.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teach this muscle memory. Start with vim hello.cpp. Insert mode edits. Escape returns to command mode. Have them practice write and quit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 or paste this in Vim. Explain that source code is text until the compiler turns it into an executable.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first command and describe the output name. Run the second. Explain ./ means “the executable in this current directory.”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local teaching folder. Start with one source file. Move to multiple_cpps when students are ready to see a function implementation and a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Makefile in multiple_cpps. The teaching point: it stores the build recipe so we do not retype the multi-file compiler command. Do not explain make syntax deeply.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CMakeLists.txt in multiple_cpps. Explain that CMake configures a build system. Keep build files separate from source files so the project directory stays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 small script. First line selects Bash. chmod +x makes it executable. Show $1 only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A633E9-F823-4515-B6B6-CD18B3F5BDC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GCSDD BootUp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1B909C-3399-4EC8-81C1-53A46B0A75A1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0–2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E20FE60-F9B2-4908-993F-42E83E770C9D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BD530-D2D9-49DD-AEC7-3AE4C2D01E8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F3DB8-A249-4F1B-88D5-A1271371D3E9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8572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Connect to a remote Linux machine.</a:t>
            </a:r>
          </a:p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Find and edit files.</a:t>
            </a:r>
          </a:p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Build and run C++.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037A6-440B-4915-9086-62923068D396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Linux + C++ foundations</a:t>
            </a:r>
          </a:p>
        </p:txBody>
      </p:sp>
    </p:spTree>
    <p:extLst>
      <p:ext uri="{BB962C8B-B14F-4D97-AF65-F5344CB8AC3E}">
        <p14:creationId xmlns:p14="http://schemas.microsoft.com/office/powerpoint/2010/main" val="64663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002356-CCEB-43D5-9624-EA92D01B4F9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Today’s mental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A3F43E-06F7-45C8-B8A8-6EA0B39DCBDC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2–5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0709937-C7F4-4CCB-9FE9-D0B7BF76E4C2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6D784-DC81-4880-91BD-4C7E8A0F5C0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894C9-6A3A-4977-8895-B99EDA77D1FC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571750" cy="7048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Laptop terminal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3903A1-741D-4FAC-BFAD-91F7C82B1C47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71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"/>
          </a:bodyPr>
          <a:lstStyle/>
          <a:p>
            <a:pPr>
              <a:defRPr sz="1800" b="1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A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A7BE38-A414-41F8-A459-DDB56B6B4EDF}"/>
              </a:ext>
            </a:extLst>
          </p:cNvPr>
          <p:cNvSpPr>
            <a:spLocks noGrp="1"/>
          </p:cNvSpPr>
          <p:nvPr/>
        </p:nvSpPr>
        <p:spPr>
          <a:xfrm>
            <a:off x="3429000" y="2238375"/>
            <a:ext cx="2571750" cy="7048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SSH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7B4CB1-8279-42D7-8CC4-2A4BBBF5BB88}"/>
              </a:ext>
            </a:extLst>
          </p:cNvPr>
          <p:cNvSpPr>
            <a:spLocks noGrp="1"/>
          </p:cNvSpPr>
          <p:nvPr/>
        </p:nvSpPr>
        <p:spPr>
          <a:xfrm>
            <a:off x="6000750" y="2428875"/>
            <a:ext cx="171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"/>
          </a:bodyPr>
          <a:lstStyle/>
          <a:p>
            <a:pPr>
              <a:defRPr sz="1800" b="1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A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C98D0F-554E-489E-94F7-B01DE7EB8F7C}"/>
              </a:ext>
            </a:extLst>
          </p:cNvPr>
          <p:cNvSpPr>
            <a:spLocks noGrp="1"/>
          </p:cNvSpPr>
          <p:nvPr/>
        </p:nvSpPr>
        <p:spPr>
          <a:xfrm>
            <a:off x="6172200" y="2238375"/>
            <a:ext cx="2571750" cy="7048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Linux on EC2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37FAE6-0F0C-4E63-A74B-67DFFBB5DF19}"/>
              </a:ext>
            </a:extLst>
          </p:cNvPr>
          <p:cNvSpPr>
            <a:spLocks noGrp="1"/>
          </p:cNvSpPr>
          <p:nvPr/>
        </p:nvSpPr>
        <p:spPr>
          <a:xfrm>
            <a:off x="8743950" y="2428875"/>
            <a:ext cx="171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"/>
          </a:bodyPr>
          <a:lstStyle/>
          <a:p>
            <a:pPr>
              <a:defRPr sz="1800" b="1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A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694BBE-BD28-44CB-985C-43E3732836AF}"/>
              </a:ext>
            </a:extLst>
          </p:cNvPr>
          <p:cNvSpPr>
            <a:spLocks noGrp="1"/>
          </p:cNvSpPr>
          <p:nvPr/>
        </p:nvSpPr>
        <p:spPr>
          <a:xfrm>
            <a:off x="8915400" y="2238375"/>
            <a:ext cx="2571750" cy="7048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Bash + tools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0104E1-24B9-42F2-B364-24D8E43D5EC1}"/>
              </a:ext>
            </a:extLst>
          </p:cNvPr>
          <p:cNvSpPr>
            <a:spLocks noGrp="1"/>
          </p:cNvSpPr>
          <p:nvPr/>
        </p:nvSpPr>
        <p:spPr>
          <a:xfrm>
            <a:off x="914400" y="40957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Your keyboard controls a different computer.</a:t>
            </a:r>
          </a:p>
        </p:txBody>
      </p:sp>
    </p:spTree>
    <p:extLst>
      <p:ext uri="{BB962C8B-B14F-4D97-AF65-F5344CB8AC3E}">
        <p14:creationId xmlns:p14="http://schemas.microsoft.com/office/powerpoint/2010/main" val="849573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2168134-583D-4980-B96F-D917E479522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Linux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7C46B8-EE42-4A03-889E-00D0F3B2FB7A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5–7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01D8710-4507-48C0-96BE-E293511BED2D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2B222-F4A8-4F41-B7AC-4496702C06B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E4927-7F19-4F9C-B4C7-BDBAA5FBD50B}"/>
              </a:ext>
            </a:extLst>
          </p:cNvPr>
          <p:cNvSpPr>
            <a:spLocks noGrp="1"/>
          </p:cNvSpPr>
          <p:nvPr/>
        </p:nvSpPr>
        <p:spPr>
          <a:xfrm>
            <a:off x="914400" y="152400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0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D252B"/>
                </a:solidFill>
                <a:latin typeface="Aptos"/>
                <a:ea typeface="Aptos"/>
                <a:cs typeface="Aptos"/>
              </a:rPr>
              <a:t>•  An operating system, like Windows or macOS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6A26B-A03A-4A85-8E42-3A83F8F2CE72}"/>
              </a:ext>
            </a:extLst>
          </p:cNvPr>
          <p:cNvSpPr>
            <a:spLocks noGrp="1"/>
          </p:cNvSpPr>
          <p:nvPr/>
        </p:nvSpPr>
        <p:spPr>
          <a:xfrm>
            <a:off x="914400" y="198120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0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D252B"/>
                </a:solidFill>
                <a:latin typeface="Aptos"/>
                <a:ea typeface="Aptos"/>
                <a:cs typeface="Aptos"/>
              </a:rPr>
              <a:t>•  Common on servers and cloud machines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1C57B-FC22-4277-9EDC-EF54D5305F0F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0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D252B"/>
                </a:solidFill>
                <a:latin typeface="Aptos"/>
                <a:ea typeface="Aptos"/>
                <a:cs typeface="Aptos"/>
              </a:rPr>
              <a:t>•  A terminal gives direct access to files and tools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08BB01-439E-42BD-A673-46FF0CD5E129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0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D252B"/>
                </a:solidFill>
                <a:latin typeface="Aptos"/>
                <a:ea typeface="Aptos"/>
                <a:cs typeface="Aptos"/>
              </a:rPr>
              <a:t>•  For this class: learn the small set of commands you will use repeatedly</a:t>
            </a:r>
          </a:p>
        </p:txBody>
      </p:sp>
    </p:spTree>
    <p:extLst>
      <p:ext uri="{BB962C8B-B14F-4D97-AF65-F5344CB8AC3E}">
        <p14:creationId xmlns:p14="http://schemas.microsoft.com/office/powerpoint/2010/main" val="85389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F2B866B-C8BC-4B34-AB45-7D89FF64FDB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AWS EC2: your remote Linux computer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55818F-92C8-4356-B85C-FFA94BCF45B3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716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7–11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1AB0A7E-CF95-4846-B323-5190F75F6FCE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A0B772-704A-44EE-8FB1-4F602C8B59F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21027D-6E1A-4F9A-A861-9941228DC5FD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571750" cy="7048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EC2 instance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2C91F-E1E1-4FE5-BE42-B7386733017C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71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"/>
          </a:bodyPr>
          <a:lstStyle/>
          <a:p>
            <a:pPr>
              <a:defRPr sz="1800" b="1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A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C4CC4-BAD9-4A6C-B644-C1E7EE9C5008}"/>
              </a:ext>
            </a:extLst>
          </p:cNvPr>
          <p:cNvSpPr>
            <a:spLocks noGrp="1"/>
          </p:cNvSpPr>
          <p:nvPr/>
        </p:nvSpPr>
        <p:spPr>
          <a:xfrm>
            <a:off x="3429000" y="2238375"/>
            <a:ext cx="2571750" cy="7048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Public 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6A7C87-4F17-4D5B-A35C-509DB53EE9A5}"/>
              </a:ext>
            </a:extLst>
          </p:cNvPr>
          <p:cNvSpPr>
            <a:spLocks noGrp="1"/>
          </p:cNvSpPr>
          <p:nvPr/>
        </p:nvSpPr>
        <p:spPr>
          <a:xfrm>
            <a:off x="6000750" y="2428875"/>
            <a:ext cx="171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"/>
          </a:bodyPr>
          <a:lstStyle/>
          <a:p>
            <a:pPr>
              <a:defRPr sz="1800" b="1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A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0C2AFA-B648-4F5F-A5E9-52637D54ACB5}"/>
              </a:ext>
            </a:extLst>
          </p:cNvPr>
          <p:cNvSpPr>
            <a:spLocks noGrp="1"/>
          </p:cNvSpPr>
          <p:nvPr/>
        </p:nvSpPr>
        <p:spPr>
          <a:xfrm>
            <a:off x="6172200" y="2238375"/>
            <a:ext cx="2571750" cy="7048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Key pair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39E5F-DA7B-4FC1-8006-0294605EBB15}"/>
              </a:ext>
            </a:extLst>
          </p:cNvPr>
          <p:cNvSpPr>
            <a:spLocks noGrp="1"/>
          </p:cNvSpPr>
          <p:nvPr/>
        </p:nvSpPr>
        <p:spPr>
          <a:xfrm>
            <a:off x="8743950" y="2428875"/>
            <a:ext cx="171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000"/>
          </a:bodyPr>
          <a:lstStyle/>
          <a:p>
            <a:pPr>
              <a:defRPr sz="1800" b="1">
                <a:solidFill>
                  <a:srgbClr val="245A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A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6BFD2-B342-4A22-97C2-E0E30C71989F}"/>
              </a:ext>
            </a:extLst>
          </p:cNvPr>
          <p:cNvSpPr>
            <a:spLocks noGrp="1"/>
          </p:cNvSpPr>
          <p:nvPr/>
        </p:nvSpPr>
        <p:spPr>
          <a:xfrm>
            <a:off x="8915400" y="2238375"/>
            <a:ext cx="2571750" cy="7048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SSH login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23C0B9-E127-4171-B42F-F9B0212F0570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The public IP identifies the remote machine. The private key proves you may log in.</a:t>
            </a:r>
          </a:p>
        </p:txBody>
      </p:sp>
    </p:spTree>
    <p:extLst>
      <p:ext uri="{BB962C8B-B14F-4D97-AF65-F5344CB8AC3E}">
        <p14:creationId xmlns:p14="http://schemas.microsoft.com/office/powerpoint/2010/main" val="13388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777E03-E72F-4051-9069-CA06A649980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Key pair and SSH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BD45A4-6319-4D59-B4FE-DF186AFC5F0D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11–14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68B632A-AF99-491F-8E95-C6B315993D2B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E07E8-786B-49F6-B010-3140BEF394D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AE6F2-9B4A-49D2-A47A-529A2399FF43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10401300" cy="16192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chmod 400 my-key.pem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ssh -i my-key.pem ubuntu@PUBLIC_IP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C96AB-C0C5-4C88-A3EE-B8938AEF27CA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904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>
              <a:defRPr sz="15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The login name depends on the Linux image. Ubuntu often uses ubuntu.</a:t>
            </a:r>
          </a:p>
        </p:txBody>
      </p:sp>
    </p:spTree>
    <p:extLst>
      <p:ext uri="{BB962C8B-B14F-4D97-AF65-F5344CB8AC3E}">
        <p14:creationId xmlns:p14="http://schemas.microsoft.com/office/powerpoint/2010/main" val="87145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890C63-EDA8-483F-B750-909E18D1C33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The prompt tells you where you 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66F923-AB98-4D95-85B2-3C1445AD2D9E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14–16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496FAF0-842D-4C10-9F39-41AE2A4BDD95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E6771-B161-4A6A-88DB-D0402E16CBE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EA780-DD08-49FF-AB49-C4FAA3A04AAB}"/>
              </a:ext>
            </a:extLst>
          </p:cNvPr>
          <p:cNvSpPr>
            <a:spLocks noGrp="1"/>
          </p:cNvSpPr>
          <p:nvPr/>
        </p:nvSpPr>
        <p:spPr>
          <a:xfrm>
            <a:off x="895350" y="2047875"/>
            <a:ext cx="10401300" cy="16192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ubuntu@ip-10-0-0-15:~/cpp-demo$</a:t>
            </a:r>
          </a:p>
          <a:p>
            <a:endParaRPr sz="1800" b="0">
              <a:solidFill>
                <a:srgbClr val="1D252B"/>
              </a:solidFill>
              <a:latin typeface="Aptos Mono"/>
              <a:ea typeface="Aptos Mono"/>
              <a:cs typeface="Aptos Mono"/>
            </a:endParaRP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user              machine          current directory</a:t>
            </a:r>
          </a:p>
        </p:txBody>
      </p:sp>
    </p:spTree>
    <p:extLst>
      <p:ext uri="{BB962C8B-B14F-4D97-AF65-F5344CB8AC3E}">
        <p14:creationId xmlns:p14="http://schemas.microsoft.com/office/powerpoint/2010/main" val="1658382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91E4C4-D138-4522-88C0-48687174BD9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Filesystem: where files live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63A6F-AF9A-4F5C-8107-248CB04DA3E7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16–20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08284C6-4C74-4F3C-87D9-F01E0875259F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519640-A75E-4B1D-85D8-D3BB0A371DB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DF4668-A15B-4598-8418-5738D2F8ABE3}"/>
              </a:ext>
            </a:extLst>
          </p:cNvPr>
          <p:cNvSpPr>
            <a:spLocks noGrp="1"/>
          </p:cNvSpPr>
          <p:nvPr/>
        </p:nvSpPr>
        <p:spPr>
          <a:xfrm>
            <a:off x="895350" y="1714500"/>
            <a:ext cx="10401300" cy="2524125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/                     root of the filesystem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/home/ubuntu         one user’s home directory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~                     your home directory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                     current directory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..                    parent directory</a:t>
            </a:r>
          </a:p>
        </p:txBody>
      </p:sp>
    </p:spTree>
    <p:extLst>
      <p:ext uri="{BB962C8B-B14F-4D97-AF65-F5344CB8AC3E}">
        <p14:creationId xmlns:p14="http://schemas.microsoft.com/office/powerpoint/2010/main" val="26453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0D97F2-5D4B-46B2-9C5A-F127C7233D2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Navigate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DB4ECC-3967-47BD-A23B-D35448BA4F57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20–23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92640AB-2379-48BE-A42E-098F268C1C7D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25940-F5B1-4510-89DA-854CE5E8558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1E935-3752-4AA9-9111-6CA321E14512}"/>
              </a:ext>
            </a:extLst>
          </p:cNvPr>
          <p:cNvSpPr>
            <a:spLocks noGrp="1"/>
          </p:cNvSpPr>
          <p:nvPr/>
        </p:nvSpPr>
        <p:spPr>
          <a:xfrm>
            <a:off x="895350" y="1857375"/>
            <a:ext cx="10401300" cy="2333625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pwd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ls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cd ~/cpp-demo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cd ..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cd /home/ubuntu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905C59-4D1C-4AE5-AE91-3D1EF96358A3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>
              <a:defRPr sz="15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Absolute: /home/ubuntu/cpp-demo     Relative: ../other-folder</a:t>
            </a:r>
          </a:p>
        </p:txBody>
      </p:sp>
    </p:spTree>
    <p:extLst>
      <p:ext uri="{BB962C8B-B14F-4D97-AF65-F5344CB8AC3E}">
        <p14:creationId xmlns:p14="http://schemas.microsoft.com/office/powerpoint/2010/main" val="1216647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7D3B02-BB59-4D20-99C3-C46CE5DD2FD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Create, copy, move, read, remove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766619-8A26-45B6-BBA7-785FBF497D03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23–26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98CC27D-0285-4447-97B7-999B91B25F88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63FC9-5FC9-4A2F-A8A6-AB6AE297718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199B9-4EBC-4720-A201-BF6C6B204B46}"/>
              </a:ext>
            </a:extLst>
          </p:cNvPr>
          <p:cNvSpPr>
            <a:spLocks noGrp="1"/>
          </p:cNvSpPr>
          <p:nvPr/>
        </p:nvSpPr>
        <p:spPr>
          <a:xfrm>
            <a:off x="895350" y="1571625"/>
            <a:ext cx="10401300" cy="285750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mkdir cpp-demo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touch hello.cpp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cp hello.cpp hello-copy.cpp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mv hello-copy.cpp backup.cpp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cat hello.cpp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rm backup.cpp</a:t>
            </a:r>
          </a:p>
        </p:txBody>
      </p:sp>
    </p:spTree>
    <p:extLst>
      <p:ext uri="{BB962C8B-B14F-4D97-AF65-F5344CB8AC3E}">
        <p14:creationId xmlns:p14="http://schemas.microsoft.com/office/powerpoint/2010/main" val="1200352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2D015-D852-4E38-B5C9-A63A0FE10FB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Identity and permissions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8F2DED-7A89-4402-A38D-9B27167AD8E9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26–28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FE789E6-FDF0-4621-B1E8-EAF4AD7869D3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97333-B71D-4C92-B7BA-A47C7F125E6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70171-AAE1-4E11-BEC3-43305A4BBE20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10401300" cy="171450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whoami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chmod +x build.sh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sudo apt update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0D904-448E-4920-8F4E-ED5117EAD1BF}"/>
              </a:ext>
            </a:extLst>
          </p:cNvPr>
          <p:cNvSpPr>
            <a:spLocks noGrp="1"/>
          </p:cNvSpPr>
          <p:nvPr/>
        </p:nvSpPr>
        <p:spPr>
          <a:xfrm>
            <a:off x="914400" y="4238625"/>
            <a:ext cx="1000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Use sudo only when you understand the command and why it needs administrator access.</a:t>
            </a:r>
          </a:p>
        </p:txBody>
      </p:sp>
    </p:spTree>
    <p:extLst>
      <p:ext uri="{BB962C8B-B14F-4D97-AF65-F5344CB8AC3E}">
        <p14:creationId xmlns:p14="http://schemas.microsoft.com/office/powerpoint/2010/main" val="1739026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AC7EE-735D-47ED-A094-12F43827EF8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Vim survival kit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C36220-43EE-4F3F-B649-E3B4266A8C1F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28–31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4B6F10C-60A1-48C6-81B6-2C8B75616FDE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4560F-AA30-4C89-B767-4828DEB535C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14F60E-A3E2-40F9-A805-AF53CAA9D046}"/>
              </a:ext>
            </a:extLst>
          </p:cNvPr>
          <p:cNvSpPr>
            <a:spLocks noGrp="1"/>
          </p:cNvSpPr>
          <p:nvPr/>
        </p:nvSpPr>
        <p:spPr>
          <a:xfrm>
            <a:off x="895350" y="1428750"/>
            <a:ext cx="10401300" cy="3381375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vim hello.cpp</a:t>
            </a:r>
          </a:p>
          <a:p>
            <a:endParaRPr sz="1800" b="0">
              <a:solidFill>
                <a:srgbClr val="1D252B"/>
              </a:solidFill>
              <a:latin typeface="Aptos Mono"/>
              <a:ea typeface="Aptos Mono"/>
              <a:cs typeface="Aptos Mono"/>
            </a:endParaRP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i           insert mode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Esc         command mode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:w          write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:q          quit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:wq         write and quit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:q!         quit without saving</a:t>
            </a:r>
          </a:p>
        </p:txBody>
      </p:sp>
    </p:spTree>
    <p:extLst>
      <p:ext uri="{BB962C8B-B14F-4D97-AF65-F5344CB8AC3E}">
        <p14:creationId xmlns:p14="http://schemas.microsoft.com/office/powerpoint/2010/main" val="1778966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3B6F7-3A3F-4370-B046-853F9C359D4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A tiny C++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DE5DEB-77C4-4E5E-8C0F-E68242B9B5BF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31–35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5994725-30C8-4CB1-A1BB-A1C4661C4023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6145A4-8922-4246-9B62-87A97589C4D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E06C5-2360-4D06-B044-06F098DD8562}"/>
              </a:ext>
            </a:extLst>
          </p:cNvPr>
          <p:cNvSpPr>
            <a:spLocks noGrp="1"/>
          </p:cNvSpPr>
          <p:nvPr/>
        </p:nvSpPr>
        <p:spPr>
          <a:xfrm>
            <a:off x="895350" y="1381125"/>
            <a:ext cx="10401300" cy="29527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#include &lt;iostream&gt;</a:t>
            </a:r>
          </a:p>
          <a:p>
            <a:endParaRPr sz="1800" b="0">
              <a:solidFill>
                <a:srgbClr val="1D252B"/>
              </a:solidFill>
              <a:latin typeface="Aptos Mono"/>
              <a:ea typeface="Aptos Mono"/>
              <a:cs typeface="Aptos Mono"/>
            </a:endParaRP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int main() {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    std::cout &lt;&lt; "Hello from Linux!\n";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    return 0;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3492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A1A6DE-5375-4854-9EED-7CA61BB075F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Compile, then run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DAA7D-FB17-4E35-80CF-5C3B87D204F8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35–38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EE0FCA8-251A-4352-B530-E25178B610FB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8EEA12-D4F5-408C-B920-6E6E73B1BBD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FD0BE1-E269-4DAE-A473-5867FD000824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10401300" cy="12382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g++ -std=c++17 hello.cpp -o hello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./hello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B7334A-BFE3-49A5-BD5C-EC36D0A2BD86}"/>
              </a:ext>
            </a:extLst>
          </p:cNvPr>
          <p:cNvSpPr>
            <a:spLocks noGrp="1"/>
          </p:cNvSpPr>
          <p:nvPr/>
        </p:nvSpPr>
        <p:spPr>
          <a:xfrm>
            <a:off x="914400" y="4238625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667"/>
          </a:bodyPr>
          <a:lstStyle/>
          <a:p>
            <a:pPr>
              <a:defRPr sz="18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Source file  →  compiler  →  executable  →  output</a:t>
            </a:r>
          </a:p>
        </p:txBody>
      </p:sp>
    </p:spTree>
    <p:extLst>
      <p:ext uri="{BB962C8B-B14F-4D97-AF65-F5344CB8AC3E}">
        <p14:creationId xmlns:p14="http://schemas.microsoft.com/office/powerpoint/2010/main" val="491646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3F9BB2-1703-4301-A9BA-56C8029D5C5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Demo folders: single_cpp, then multiple_cpps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4626B-06BE-4A15-82AD-621BF49606F1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38–40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1FDCF57-EDF3-4C96-BE21-B51EC896E42F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30878D-E904-424B-8FD3-621181DFF65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4410A2-BE3B-40E3-B24D-2A49FFC2FE45}"/>
              </a:ext>
            </a:extLst>
          </p:cNvPr>
          <p:cNvSpPr>
            <a:spLocks noGrp="1"/>
          </p:cNvSpPr>
          <p:nvPr/>
        </p:nvSpPr>
        <p:spPr>
          <a:xfrm>
            <a:off x="895350" y="1428750"/>
            <a:ext cx="10401300" cy="29527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cd ~/teaching/GCSDD_BootUp_2026-09-17/single_cpp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g++ hello.cpp -o hello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./hello</a:t>
            </a:r>
          </a:p>
          <a:p>
            <a:endParaRPr sz="1800" b="0">
              <a:solidFill>
                <a:srgbClr val="1D252B"/>
              </a:solidFill>
              <a:latin typeface="Aptos Mono"/>
              <a:ea typeface="Aptos Mono"/>
              <a:cs typeface="Aptos Mono"/>
            </a:endParaRP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cd ../multiple_cpps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g++ main.cpp greeting.cpp -o hello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./hello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F3C323-C324-4C37-961B-163941E5E0BE}"/>
              </a:ext>
            </a:extLst>
          </p:cNvPr>
          <p:cNvSpPr>
            <a:spLocks noGrp="1"/>
          </p:cNvSpPr>
          <p:nvPr/>
        </p:nvSpPr>
        <p:spPr>
          <a:xfrm>
            <a:off x="914400" y="48101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>
              <a:defRPr sz="15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Single file first. Then show a function split across .cpp and .h files.</a:t>
            </a:r>
          </a:p>
        </p:txBody>
      </p:sp>
    </p:spTree>
    <p:extLst>
      <p:ext uri="{BB962C8B-B14F-4D97-AF65-F5344CB8AC3E}">
        <p14:creationId xmlns:p14="http://schemas.microsoft.com/office/powerpoint/2010/main" val="162379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CA938E-1E87-43AA-B9AB-A3F0E6C6DBA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Makefile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9EA45B-E3D7-4A2B-A8CC-6794BFD85A21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40–45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E57D765-A393-47F7-B6BC-87BFE1B709E7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640A1F-D9E9-466E-9AD4-09FDD2A50F4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B35E07-6F96-4596-8B39-98545F75A9DB}"/>
              </a:ext>
            </a:extLst>
          </p:cNvPr>
          <p:cNvSpPr>
            <a:spLocks noGrp="1"/>
          </p:cNvSpPr>
          <p:nvPr/>
        </p:nvSpPr>
        <p:spPr>
          <a:xfrm>
            <a:off x="895350" y="1714500"/>
            <a:ext cx="10401300" cy="21907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cd ~/teaching/GCSDD_BootUp_2026-09-17/multiple_cpps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make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./hello</a:t>
            </a:r>
          </a:p>
          <a:p>
            <a:endParaRPr sz="1800" b="0">
              <a:solidFill>
                <a:srgbClr val="1D252B"/>
              </a:solidFill>
              <a:latin typeface="Aptos Mono"/>
              <a:ea typeface="Aptos Mono"/>
              <a:cs typeface="Aptos Mono"/>
            </a:endParaRP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make clean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549DC-6947-41FB-888F-33DF8B23D552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>
              <a:defRPr sz="15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make rebuilds what changed.  make clean removes build outputs.</a:t>
            </a:r>
          </a:p>
        </p:txBody>
      </p:sp>
    </p:spTree>
    <p:extLst>
      <p:ext uri="{BB962C8B-B14F-4D97-AF65-F5344CB8AC3E}">
        <p14:creationId xmlns:p14="http://schemas.microsoft.com/office/powerpoint/2010/main" val="2057656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CD4E67-C027-4F28-AD0F-C8AD23491E3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CMake and an out-of-source build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29D7EB-9E5C-41E9-B1C2-13FCA1CAD7A3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45–51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6C1B757-2B28-4D34-91E6-002048B27E58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5257A3-E834-425E-A422-014B2CBE77B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ED8F1B-420F-42C4-9612-9B30B1B7773C}"/>
              </a:ext>
            </a:extLst>
          </p:cNvPr>
          <p:cNvSpPr>
            <a:spLocks noGrp="1"/>
          </p:cNvSpPr>
          <p:nvPr/>
        </p:nvSpPr>
        <p:spPr>
          <a:xfrm>
            <a:off x="895350" y="1285875"/>
            <a:ext cx="10401300" cy="314325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cd ~/teaching/GCSDD_BootUp_2026-09-17/multiple_cpps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mkdir build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cd build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cmake ..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cmake --build .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./hello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2F9AAD-05CE-40CC-8594-AB1E8F602C65}"/>
              </a:ext>
            </a:extLst>
          </p:cNvPr>
          <p:cNvSpPr>
            <a:spLocks noGrp="1"/>
          </p:cNvSpPr>
          <p:nvPr/>
        </p:nvSpPr>
        <p:spPr>
          <a:xfrm>
            <a:off x="914400" y="48577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Then compare this CMakeLists.txt with UWB-342-BootUp-2026-March from your other C++ class.</a:t>
            </a:r>
          </a:p>
        </p:txBody>
      </p:sp>
    </p:spTree>
    <p:extLst>
      <p:ext uri="{BB962C8B-B14F-4D97-AF65-F5344CB8AC3E}">
        <p14:creationId xmlns:p14="http://schemas.microsoft.com/office/powerpoint/2010/main" val="471720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9531E8-BF0B-4E4C-94A0-A69FF02DA0B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D25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52B"/>
                </a:solidFill>
                <a:latin typeface="Aptos"/>
                <a:ea typeface="Aptos"/>
                <a:cs typeface="Aptos"/>
              </a:rPr>
              <a:t>Bash script basics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E84DBB-5626-4C6F-93AF-C786ED9CC666}"/>
              </a:ext>
            </a:extLst>
          </p:cNvPr>
          <p:cNvSpPr>
            <a:spLocks noGrp="1"/>
          </p:cNvSpPr>
          <p:nvPr/>
        </p:nvSpPr>
        <p:spPr>
          <a:xfrm>
            <a:off x="10763250" y="4953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472"/>
          </a:bodyPr>
          <a:lstStyle/>
          <a:p>
            <a:pPr>
              <a:defRPr sz="1200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51–56 min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B26AB6C-3ED1-4E32-A765-AAF0E8D8ABC2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820400" cy="0"/>
          </a:xfrm>
          <a:prstGeom prst="line">
            <a:avLst/>
          </a:prstGeom>
          <a:ln w="9525">
            <a:solidFill>
              <a:srgbClr val="D8DDE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EAF5F-9529-438A-B9C9-1E123EFBCD4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3333"/>
          </a:bodyPr>
          <a:lstStyle/>
          <a:p>
            <a:pPr>
              <a:defRPr sz="975" b="0">
                <a:solidFill>
                  <a:srgbClr val="66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17A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BAA275-1FAF-469B-B359-63D56917B577}"/>
              </a:ext>
            </a:extLst>
          </p:cNvPr>
          <p:cNvSpPr>
            <a:spLocks noGrp="1"/>
          </p:cNvSpPr>
          <p:nvPr/>
        </p:nvSpPr>
        <p:spPr>
          <a:xfrm>
            <a:off x="895350" y="1285875"/>
            <a:ext cx="10401300" cy="3238500"/>
          </a:xfrm>
          <a:prstGeom prst="rect">
            <a:avLst/>
          </a:prstGeom>
          <a:solidFill>
            <a:srgbClr val="F5F6F7"/>
          </a:solidFill>
          <a:ln w="9525">
            <a:solidFill>
              <a:srgbClr val="D8DDE1"/>
            </a:solidFill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#!/usr/bin/env bash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g++ -std=c++17 hello.cpp -o hello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./hello "$1"</a:t>
            </a:r>
          </a:p>
          <a:p>
            <a:endParaRPr sz="1800" b="0">
              <a:solidFill>
                <a:srgbClr val="1D252B"/>
              </a:solidFill>
              <a:latin typeface="Aptos Mono"/>
              <a:ea typeface="Aptos Mono"/>
              <a:cs typeface="Aptos Mono"/>
            </a:endParaRP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chmod +x build.sh</a:t>
            </a:r>
          </a:p>
          <a:p>
            <a:pPr>
              <a:def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1D252B"/>
                </a:solidFill>
                <a:latin typeface="Aptos Mono"/>
                <a:ea typeface="Aptos Mono"/>
                <a:cs typeface="Aptos Mono"/>
              </a:rPr>
              <a:t>./build.sh Ada</a:t>
            </a:r>
          </a:p>
        </p:txBody>
      </p:sp>
    </p:spTree>
    <p:extLst>
      <p:ext uri="{BB962C8B-B14F-4D97-AF65-F5344CB8AC3E}">
        <p14:creationId xmlns:p14="http://schemas.microsoft.com/office/powerpoint/2010/main" val="9471005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1108</Words>
  <Application>Microsoft Macintosh PowerPoint</Application>
  <DocSecurity>0</DocSecurity>
  <PresentationFormat>Widescreen</PresentationFormat>
  <Paragraphs>163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PENG DU</cp:lastModifiedBy>
  <cp:revision>1</cp:revision>
  <dcterms:created xsi:type="dcterms:W3CDTF">2026-09-18T01:49:57Z</dcterms:created>
  <dcterms:modified xsi:type="dcterms:W3CDTF">2026-09-18T01:53:22Z</dcterms:modified>
</cp:coreProperties>
</file>